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12E81"/>
              </a:gs>
              <a:gs pos="100000">
                <a:srgbClr val="7C3AED"/>
              </a:gs>
            </a:gsLst>
            <a:lin ang="210000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69680" y="-1554480"/>
            <a:ext cx="5120640" cy="5120640"/>
          </a:xfrm>
          <a:prstGeom prst="ellipse">
            <a:avLst/>
          </a:prstGeom>
          <a:solidFill>
            <a:srgbClr val="FFFFFF">
              <a:alpha val="9000"/>
            </a:srgbClr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4114800"/>
            <a:ext cx="3840480" cy="3840480"/>
          </a:xfrm>
          <a:prstGeom prst="ellipse">
            <a:avLst/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1280160" y="4754880"/>
            <a:ext cx="3291840" cy="3291840"/>
          </a:xfrm>
          <a:prstGeom prst="ellipse">
            <a:avLst/>
          </a:prstGeom>
          <a:solidFill>
            <a:srgbClr val="FFFFFF">
              <a:alpha val="6000"/>
            </a:srgbClr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207008"/>
            <a:ext cx="749808" cy="74980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FFFFFF"/>
              </a:gs>
              <a:gs pos="100000">
                <a:srgbClr val="E0E7FF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312E81"/>
                </a:solidFill>
                <a:latin typeface="Segoe UI"/>
              </a:rPr>
              <a:t>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5064" y="1389888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260">
                <a:solidFill>
                  <a:srgbClr val="A78BFA"/>
                </a:solidFill>
                <a:latin typeface="Segoe UI"/>
              </a:rPr>
              <a:t>SAMAÉCOLE  ·  UNIKOL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95097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Le Système d'Information Éducatif
Nouvelle Génération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15968"/>
            <a:ext cx="1371600" cy="457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553712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DDD6FE"/>
                </a:solidFill>
                <a:latin typeface="Segoe UI"/>
              </a:rPr>
              <a:t>Piloter votre établissement avec rigueur, modernité et simplicité.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349240"/>
            <a:ext cx="2540431" cy="841248"/>
          </a:xfrm>
          <a:prstGeom prst="roundRect">
            <a:avLst>
              <a:gd name="adj" fmla="val 1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txBody>
          <a:bodyPr rtlCol="0" anchor="ctr" wrap="square" lIns="201168" rIns="201168" tIns="128016" b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7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C7D2FE"/>
                </a:solidFill>
                <a:latin typeface="Segoe UI"/>
              </a:rPr>
              <a:t>modules métier intégrés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5687" y="5349240"/>
            <a:ext cx="2540431" cy="841248"/>
          </a:xfrm>
          <a:prstGeom prst="roundRect">
            <a:avLst>
              <a:gd name="adj" fmla="val 1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txBody>
          <a:bodyPr rtlCol="0" anchor="ctr" wrap="square" lIns="201168" rIns="201168" tIns="128016" b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23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C7D2FE"/>
                </a:solidFill>
                <a:latin typeface="Segoe UI"/>
              </a:rPr>
              <a:t>documents officiels PDF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5575" y="5349240"/>
            <a:ext cx="2540431" cy="841248"/>
          </a:xfrm>
          <a:prstGeom prst="roundRect">
            <a:avLst>
              <a:gd name="adj" fmla="val 1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txBody>
          <a:bodyPr rtlCol="0" anchor="ctr" wrap="square" lIns="201168" rIns="201168" tIns="128016" b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89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C7D2FE"/>
                </a:solidFill>
                <a:latin typeface="Segoe UI"/>
              </a:rPr>
              <a:t>services API sécurisés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5463" y="5349240"/>
            <a:ext cx="2540431" cy="841248"/>
          </a:xfrm>
          <a:prstGeom prst="roundRect">
            <a:avLst>
              <a:gd name="adj" fmla="val 1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txBody>
          <a:bodyPr rtlCol="0" anchor="ctr" wrap="square" lIns="201168" rIns="201168" tIns="128016" b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100 %</a:t>
            </a:r>
          </a:p>
          <a:p>
            <a:pPr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C7D2FE"/>
                </a:solidFill>
                <a:latin typeface="Segoe UI"/>
              </a:rPr>
              <a:t>en ligne, sans installation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82512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120">
                <a:solidFill>
                  <a:srgbClr val="C4B5FD"/>
                </a:solidFill>
                <a:latin typeface="Segoe UI"/>
              </a:rPr>
              <a:t>Présentation commerciale et institutionnelle  —  Année scolaire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D93025"/>
                </a:solidFill>
                <a:latin typeface="Segoe UI"/>
              </a:rPr>
              <a:t>LE CONSTAT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Ce que vit un chef d'établissement aujourd'hui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Quatre points de rupture qui coûtent, chaque année, du temps, de l'argent et de la crédibilité.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2540431" cy="288950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176272"/>
            <a:ext cx="206494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Le calcul à la 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24328"/>
            <a:ext cx="2064943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Moyennes, coefficients et rangs repris sur cahier ou tableur.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Une erreur découverte après remise des bulletins ne se rattrape plus.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Chaque trimestre, tout est à refaire.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45687" y="1938528"/>
            <a:ext cx="2540431" cy="288950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3431" y="2176272"/>
            <a:ext cx="206494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L'argent sans traçabilité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3431" y="2624328"/>
            <a:ext cx="2064943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Reçus manuscrits, caisse jamais arrêtée formellement.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Les impayés se découvrent en fin d'année, quand il est trop tard.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Personne ne sait ce qui reste à recouvrer.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5575" y="1938528"/>
            <a:ext cx="2540431" cy="288950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3319" y="2176272"/>
            <a:ext cx="206494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Les bulletins en retard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3319" y="2624328"/>
            <a:ext cx="2064943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Plusieurs nuits de saisie et de recopie par période.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Les familles attendent, l'image de l'établissement en pâtit.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La délibération se tient sans chiffres consolidés.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5463" y="1938528"/>
            <a:ext cx="2540431" cy="288950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3207" y="2176272"/>
            <a:ext cx="206494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Le pilotage à l'aveugle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3207" y="2624328"/>
            <a:ext cx="2064943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Aucun indicateur consolidé : effectifs, assiduité, recettes.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Les décisions se prennent au ressenti, pas sur des faits.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D9302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Impossible de répondre vite à l'inspection ou aux promoteurs.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74920"/>
            <a:ext cx="10820095" cy="1024128"/>
          </a:xfrm>
          <a:prstGeom prst="roundRect">
            <a:avLst>
              <a:gd name="adj" fmla="val 10000"/>
            </a:avLst>
          </a:prstGeom>
          <a:solidFill>
            <a:srgbClr val="FBEA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5166359"/>
            <a:ext cx="50292" cy="841248"/>
          </a:xfrm>
          <a:prstGeom prst="rect">
            <a:avLst/>
          </a:prstGeom>
          <a:solidFill>
            <a:srgbClr val="D9302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" y="5221224"/>
            <a:ext cx="10198303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160">
                <a:solidFill>
                  <a:srgbClr val="D93025"/>
                </a:solidFill>
                <a:latin typeface="Segoe UI"/>
              </a:rPr>
              <a:t>LE VRAI DIAGNOSTIC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Aucun de ces problèmes n'est un problème de personnes : vos équipes travaillent déjà beaucoup. Ce sont des problèmes d'outil — et un outil, cela se change.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LA RÉPONSE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Une seule plateforme, du premier matricule au dernier bulletin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100 % en ligne, accessible au navigateur depuis l'école ou de chez soi. Rien à installer, rien à sauvegarder à la main, aucune version à synchroniser entre les postes.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2540431" cy="1645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23544" y="2176272"/>
            <a:ext cx="365760" cy="36576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70048"/>
            <a:ext cx="2064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Fondations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980944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Années scolaires, classes, salles et capacités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5687" y="1938528"/>
            <a:ext cx="2540431" cy="1645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83431" y="2176272"/>
            <a:ext cx="365760" cy="36576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3431" y="2670048"/>
            <a:ext cx="2064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Pédagogie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431" y="2980944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APC du primaire et notation coefficientée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1938528"/>
            <a:ext cx="2540431" cy="1645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3319" y="2176272"/>
            <a:ext cx="365760" cy="36576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2670048"/>
            <a:ext cx="2064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Inscriptions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3319" y="2980944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Matricules, dossiers élèves, réinscriptions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5463" y="1938528"/>
            <a:ext cx="2540431" cy="1645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03207" y="2176272"/>
            <a:ext cx="365760" cy="36576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3207" y="2670048"/>
            <a:ext cx="2064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Évaluation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3207" y="2980944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Notes, rangs, mentions, bulletins PDF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749039"/>
            <a:ext cx="2540431" cy="1645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44" y="3986783"/>
            <a:ext cx="365760" cy="36576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" y="4480559"/>
            <a:ext cx="2064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Vie scolaire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791455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Appels, billets, discipline, convocations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45687" y="3749039"/>
            <a:ext cx="2540431" cy="1645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683431" y="3986783"/>
            <a:ext cx="365760" cy="36576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83431" y="4480559"/>
            <a:ext cx="2064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Finances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3431" y="4791455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Frais, échéanciers, caisse, recouvrement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05575" y="3749039"/>
            <a:ext cx="2540431" cy="1645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43319" y="3986783"/>
            <a:ext cx="365760" cy="36576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3319" y="4480559"/>
            <a:ext cx="2064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Pilotage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3319" y="4791455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Tableaux de bord et rapports de direction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5463" y="3749039"/>
            <a:ext cx="2540431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03207" y="3986783"/>
            <a:ext cx="365760" cy="36576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C3AED"/>
              </a:gs>
              <a:gs pos="100000">
                <a:srgbClr val="A78BFA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03207" y="4480559"/>
            <a:ext cx="206494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Socle &amp; sécurité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3207" y="4791455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Isolation des données, rôles, journal d'audit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5596128"/>
            <a:ext cx="10820095" cy="694944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" y="5687568"/>
            <a:ext cx="50292" cy="5120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6696" y="5742432"/>
            <a:ext cx="1019830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F172A"/>
                </a:solidFill>
                <a:latin typeface="Segoe UI"/>
              </a:rPr>
              <a:t>Un seul dossier élève alimente l'inscription, les notes, l'assiduité et la comptabilité : l'information est saisie une fois, et une seule.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MODULE 1 · FONDATIONS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Une année scolaire ouverte, pilotée, puis closée proprement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Le paramétrage se fait une fois en début d'exercice ; tout le reste de l'année s'y rattache automatiquement.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3429914" cy="28346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Exercice annuel maîtrisé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09544"/>
            <a:ext cx="2881274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Années scolaires et périodes (trimestres ou semestres) déclarées par l'établissement.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Une seule année active à la fois : aucune saisie ne peut atterrir dans le mauvais exercice.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Clôture de l'année sans perte : les archives restent consultables et imprimables.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890" y="1938528"/>
            <a:ext cx="3429914" cy="28346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5521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521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Classes, cycles et effectifs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210" y="3209544"/>
            <a:ext cx="2881274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Classes rattachées à un cycle, avec capacité d'accueil et enseignant principal.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Matières, coefficients et barèmes propres à chaque niveau.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Classes passerelles accélérées (« CI-CP », « 6e-5e ») pour les parcours d'intégration — option désactivée par défaut.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5980" y="1938528"/>
            <a:ext cx="3429914" cy="283464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030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030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Bâtiments et salles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0300" y="3209544"/>
            <a:ext cx="2881274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Inventaire des bâtiments et des salles, avec capacité réelle.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Affectation des classes aux salles, taux d'occupation du jour.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Emploi du temps et pointage des enseignants adossés aux mêmes salles.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29200"/>
            <a:ext cx="10820095" cy="100584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5120640"/>
            <a:ext cx="50292" cy="8229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" y="5175504"/>
            <a:ext cx="1019830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160">
                <a:solidFill>
                  <a:srgbClr val="4F46E5"/>
                </a:solidFill>
                <a:latin typeface="Segoe UI"/>
              </a:rPr>
              <a:t>CE QUE CELA CHANGE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Segoe UI"/>
              </a:rPr>
              <a:t>Chaque donnée est rattachée à une année scolaire précise. Les effectifs de 2024 ne polluent jamais les statistiques de 2026, et une réinscription n'écrase jamais l'historique de l'élève.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MODULE 2 · DUALITÉ PÉDAGOGIQUE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L'APC du primaire et la notation coefficientée du secondaire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Deux logiques d'évaluation radicalement différentes, servies par le même outil — sans compromis sur ni l'une ni l'autre.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5277459" cy="27889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8"/>
            <a:ext cx="47288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Approche Par Compétences  ·  Primaire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09544"/>
            <a:ext cx="4728819" cy="1243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Grille à deux niveaux : des domaines (« Langue &amp; Communication ») qui portent des activités (« Ressources », « Compétences »).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Barème libre par ligne — /10, /20, /60 — ramené automatiquement au barème du bulletin avant toute moyenne.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Le bulletin imprime la grille ENTIÈRE, cases vides comprises, comme les modèles officiels.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L'appréciation se décide sur le pourcentage de réussite, une seule échelle de mentions pour tous les barèmes.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435" y="1938528"/>
            <a:ext cx="5277459" cy="27889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02755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C3AED"/>
              </a:gs>
              <a:gs pos="100000">
                <a:srgbClr val="A375F2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2755" y="2761488"/>
            <a:ext cx="4728819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Notation classique  ·  Collège et Lycée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2755" y="3209544"/>
            <a:ext cx="4728819" cy="1243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Matières coefficientées, moyennes pondérées, moyenne générale.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Rang de l'élève, moyenne de la classe, plus forte et plus faible moyenne.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Mentions paramétrables par l'établissement, appréciations par matière et appréciation générale.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Le tableau du bulletin ne liste que les matières réellement notées.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074920"/>
            <a:ext cx="50292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" y="5129784"/>
            <a:ext cx="10198303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160">
                <a:solidFill>
                  <a:srgbClr val="7C3AED"/>
                </a:solidFill>
                <a:latin typeface="Segoe UI"/>
              </a:rPr>
              <a:t>AUTONOMIE TOTALE DE L'ÉTABLISSEMENT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Segoe UI"/>
              </a:rPr>
              <a:t>Le Directeur configure lui-même la grille d'évaluation d'un niveau depuis l'écran Matières : aucun tableau de matières n'est figé dans le logiciel, et aucune intervention de l'éditeur n'est nécessaire pour faire évoluer un bulletin.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MODULE 3 · INSCRIPTIONS &amp; FICHIER ÉLÈVE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Le dossier élève, de la première inscription jusqu'à l'archive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Le guichet du secrétariat traite une inscription complète — dossier, frais, reçu — en une seule opération.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3429914" cy="27889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Matricule automatique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09544"/>
            <a:ext cx="2881274" cy="1243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Généré au moment même de l'enregistrement, jamais à l'ouverture du formulaire.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Ni doublon, ni numéro réservé puis perdu si l'agent abandonne la saisie.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Format paramétrable par l'établissement, pour les élèves comme pour les enseignants.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890" y="1938528"/>
            <a:ext cx="3429914" cy="27889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5521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521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Inscription et réinscription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210" y="3209544"/>
            <a:ext cx="2881274" cy="1243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Rattachement à l'année active et à la classe, avec contrôle de la capacité d'accueil.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Application immédiate du barème de frais et de l'échéancier de la classe.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Reçu d'inscription et attestation imprimés dans la foulée, remis à la famille.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5980" y="1938528"/>
            <a:ext cx="3429914" cy="27889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030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030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Fichier et traçabilité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0300" y="3209544"/>
            <a:ext cx="2881274" cy="1243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Profil complet : état civil, photo, tuteurs, contacts, historique de scolarité.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Aucune suppression physique : une radiation reste réversible et reste traçable.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Journal d'audit sur les opérations sensibles — qui a fait quoi, et quand.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5074920"/>
            <a:ext cx="50292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" y="5129784"/>
            <a:ext cx="10198303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160">
                <a:solidFill>
                  <a:srgbClr val="4F46E5"/>
                </a:solidFill>
                <a:latin typeface="Segoe UI"/>
              </a:rPr>
              <a:t>CONFORMITÉ DOCUMENTAIRE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Segoe UI"/>
              </a:rPr>
              <a:t>Le reçu remis à la famille porte la mention réglementaire : « Il est demandé aux parents de garder minutieusement leur reçu après le paiement. » Le document est conforme au modèle officiel de l'établissement, pas à une interprétation.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MODULE 4 · MOTEUR D'ÉVALUATION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Des notes saisies une fois, des bulletins prêts en un clic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C'est le module qui fait basculer un établissement : il supprime purement et simplement les nuits de recopie.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3429914" cy="2651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Saisie centralisée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09544"/>
            <a:ext cx="2881274" cy="1106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Feuille de notes par classe, matière et période — l'enseignant ne voit que ce qui le concerne.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Import et export Excel pour les enseignants qui préfèrent leur tableur.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Contrôle du barème dès la frappe : une note hors barème est refusée immédiatement.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890" y="1938528"/>
            <a:ext cx="3429914" cy="2651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5521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521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Calculs automatiques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210" y="3209544"/>
            <a:ext cx="2881274" cy="1106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Moyennes pondérées par coefficient, moyenne générale, rang dans la classe.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Moyenne de classe, extrêmes, mentions et appréciations déduites du barème.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Zéro reprise manuelle : le même calcul sert à l'écran, au bulletin et à la délibération.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5980" y="1938528"/>
            <a:ext cx="3429914" cy="2651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030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030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Bulletins et délibération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0300" y="3209544"/>
            <a:ext cx="2881274" cy="1106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Bulletin PDF officiel, conforme au modèle de l'établissement.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Génération en lot : toute une classe en un seul document, prêt à imprimer.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PV de délibération et décisions (admis, redouble) archivés avec le reste.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791456"/>
            <a:ext cx="3429914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4791456"/>
            <a:ext cx="3429914" cy="685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5065776"/>
            <a:ext cx="295442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Segoe UI"/>
              </a:rPr>
              <a:t>1 clic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5596128"/>
            <a:ext cx="295442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toute une classe de bulletins générée en un lot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0890" y="4791456"/>
            <a:ext cx="3429914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0890" y="4791456"/>
            <a:ext cx="3429914" cy="685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18634" y="5065776"/>
            <a:ext cx="295442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Segoe UI"/>
              </a:rPr>
              <a:t>Excel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8634" y="5596128"/>
            <a:ext cx="295442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import et export des notes, dans les deux sens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75980" y="4791456"/>
            <a:ext cx="3429914" cy="12984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75980" y="4791456"/>
            <a:ext cx="3429914" cy="6858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3724" y="5065776"/>
            <a:ext cx="295442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Segoe U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3724" y="5596128"/>
            <a:ext cx="295442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écrasement silencieux : deux saisies simultanées sont détectées et signalées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MODULE 5 · VIE SCOLAIRE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L'assiduité et la discipline tenues au jour le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Le surveillant général dispose enfin d'un registre unique, imprimable, et opposable.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3429914" cy="27889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Assiduité et appels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09544"/>
            <a:ext cx="2881274" cy="1243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Appel par cours ou par journée : présent, absent, retard, justifié.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Taux d'assiduité du mois calculé automatiquement, par classe et par élève.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Rapport de présences exporté en PDF pour le conseil ou l'inspection.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890" y="1938528"/>
            <a:ext cx="3429914" cy="27889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5521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521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Billets et exeat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210" y="3209544"/>
            <a:ext cx="2881274" cy="1243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Billet d'entrée pour l'élève en retard, billet de sortie pour un départ anticipé.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Exeat nominatif et daté, imprimé au moment même de la délivrance.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Chaque billet reste au registre : il n'y a plus de sortie « non documentée 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5980" y="1938528"/>
            <a:ext cx="3429914" cy="27889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030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030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Discipline et convocations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0300" y="3209544"/>
            <a:ext cx="2881274" cy="12435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Sanctions graduées, motif, décision et suites données.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PV disciplinaire officiel et convocation de parent ou tuteur, remise en main propre.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50" b="0" i="0">
                <a:solidFill>
                  <a:srgbClr val="475569"/>
                </a:solidFill>
                <a:latin typeface="Segoe UI"/>
              </a:rPr>
              <a:t>Historique de conduite consultable au dossier de l'élève.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983480"/>
            <a:ext cx="10820095" cy="105156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5074920"/>
            <a:ext cx="50292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" y="5129784"/>
            <a:ext cx="10198303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160">
                <a:solidFill>
                  <a:srgbClr val="7C3AED"/>
                </a:solidFill>
                <a:latin typeface="Segoe UI"/>
              </a:rPr>
              <a:t>COMMUNICATION SORTANTE VERS LES PARENTS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Segoe UI"/>
              </a:rPr>
              <a:t>Notification SMS et WhatsApp aux familles — retard, absence, échéance impayée, reçu : les envois passent par une file d'attente avec accusé de réception, de sorte qu'un message perdu se voit. Fonction incluse dans la formule Premium.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MODULE 6 · COMPTABILITÉ, CAISSE &amp; RECOUVREMENT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Chaque franc encaissé est tracé, chaque impayé est visible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C'est ici que l'abonnement se rembourse : un établissement qui voit ses impayés les recouvre.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2540431" cy="288950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23544" y="2176272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724912"/>
            <a:ext cx="20649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Segoe UI"/>
              </a:rPr>
              <a:t>Barème et échéanciers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127248"/>
            <a:ext cx="206494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Frais par classe et par cycle, définis par l'établissement.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Échéanciers appliqués à une classe entière en une seule opération.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Historique des barèmes conservé : un tarif révisé ne réécrit pas le passé.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5687" y="1938528"/>
            <a:ext cx="2540431" cy="288950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83431" y="2176272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3431" y="2724912"/>
            <a:ext cx="20649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Segoe UI"/>
              </a:rPr>
              <a:t>Encaissement au guichet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431" y="3127248"/>
            <a:ext cx="206494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Sessions de caisse ouvertes, arrêtées puis vérifiées.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Reçu sécurisé imprimé et remis immédiatement à la famille.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Journal de caisse du jour édité à la fermeture.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1938528"/>
            <a:ext cx="2540431" cy="288950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3319" y="2176272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8710A"/>
              </a:gs>
              <a:gs pos="100000">
                <a:srgbClr val="EF9C54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2724912"/>
            <a:ext cx="20649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Segoe UI"/>
              </a:rPr>
              <a:t>Recouvrement des impayés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3319" y="3127248"/>
            <a:ext cx="206494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E8710A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État des impayés à jour, par classe et par famille.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E8710A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Avis d'échéance et relances, par SMS ou sur papier.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E8710A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Engagement financier signé par le tuteur, archivé au dossier.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5463" y="1938528"/>
            <a:ext cx="2540431" cy="288950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03207" y="2176272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C3AED"/>
              </a:gs>
              <a:gs pos="100000">
                <a:srgbClr val="A375F2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3207" y="2724912"/>
            <a:ext cx="206494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F172A"/>
                </a:solidFill>
                <a:latin typeface="Segoe UI"/>
              </a:rPr>
              <a:t>Trésorerie, paie et fiscalité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3207" y="3127248"/>
            <a:ext cx="206494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Encaissements et décaissements consolidés sur un même tableau.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Fiches de paie, contrats et heures des enseignants.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Déclarations TVA, VRS et IPRES préparées depuis les mêmes chiffres.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074920"/>
            <a:ext cx="10820095" cy="1024128"/>
          </a:xfrm>
          <a:prstGeom prst="roundRect">
            <a:avLst>
              <a:gd name="adj" fmla="val 10000"/>
            </a:avLst>
          </a:prstGeom>
          <a:solidFill>
            <a:srgbClr val="FDF0E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166359"/>
            <a:ext cx="50292" cy="841248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" y="5221224"/>
            <a:ext cx="10198303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160">
                <a:solidFill>
                  <a:srgbClr val="E8710A"/>
                </a:solidFill>
                <a:latin typeface="Segoe UI"/>
              </a:rPr>
              <a:t>CONTRÔLE INTERNE INTÉGRÉ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Segoe UI"/>
              </a:rPr>
              <a:t>Le service Finance ne modifie jamais lui-même un montant issu d'une inscription : toute correction passe par le Secrétariat ou la Direction, et reste historisée. La séparation des rôles est tenue par le logiciel, pas par la confiance.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MODULE 7 · PILOTAGE &amp; STATISTIQUES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Le tableau de bord que le Directeur ouvre en arrivant le matin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Quatre chiffres en haut d'écran suffisent à savoir si la journée commence bien.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2540431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938528"/>
            <a:ext cx="2540431" cy="685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12848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Effectifs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743200"/>
            <a:ext cx="20649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élèves inscrits sur l'année active, ventilés garçons / filles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5687" y="1938528"/>
            <a:ext cx="2540431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5687" y="1938528"/>
            <a:ext cx="2540431" cy="685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3431" y="2212848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Enseignants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431" y="2743200"/>
            <a:ext cx="20649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enseignants actifs et heures assurées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5575" y="1938528"/>
            <a:ext cx="2540431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5575" y="1938528"/>
            <a:ext cx="2540431" cy="6858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3319" y="2212848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Assiduité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3319" y="2743200"/>
            <a:ext cx="20649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taux de présence du mois en cours, calculé sur les appels réels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5463" y="1938528"/>
            <a:ext cx="2540431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5463" y="1938528"/>
            <a:ext cx="2540431" cy="68580"/>
          </a:xfrm>
          <a:prstGeom prst="rect">
            <a:avLst/>
          </a:prstGeom>
          <a:solidFill>
            <a:srgbClr val="E8710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3207" y="2212848"/>
            <a:ext cx="2064943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Occupation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3207" y="2743200"/>
            <a:ext cx="20649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75569"/>
                </a:solidFill>
                <a:latin typeface="Segoe UI"/>
              </a:rPr>
              <a:t>taux d'occupation des salles du jour et prochains cours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657600"/>
            <a:ext cx="3429914" cy="215798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31920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Rapports financiers consolidés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379975"/>
            <a:ext cx="2881274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Recettes par cycle, par classe et par mode de paiement.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Export .xlsx pour le comptable ou le conseil d'administration.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0890" y="3657600"/>
            <a:ext cx="3429914" cy="215798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55210" y="3931920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Résultats et réussite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5210" y="4379975"/>
            <a:ext cx="2881274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Moyennes et taux de réussite par classe et par matière.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Comparaison entre périodes : la progression se voit, elle ne se suppose plus.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5980" y="3657600"/>
            <a:ext cx="3429914" cy="2157984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0300" y="3931920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Abonnement et conformité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0300" y="4379975"/>
            <a:ext cx="2881274" cy="1161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E8E3E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Formule en cours, échéance et jours restants affichés en clair.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1E8E3E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Journal d'audit consultable par la Direction à tout moment.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DOCUMENTS OFFICIELS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23 documents officiels, générés, numérotés et archivés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Tous produits en PDF, à l'en-tête de votre établissement, prêts à imprimer ou à remettre.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4F46E5"/>
                </a:solidFill>
                <a:latin typeface="Segoe UI"/>
              </a:rPr>
              <a:t>SCOLARITÉ &amp; FICHIERS  · 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12263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290571"/>
            <a:ext cx="100584" cy="1005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112263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Reçu d'inscription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2737" y="2112263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65617" y="2290571"/>
            <a:ext cx="100584" cy="1005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66785" y="2112263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Reçu de paiement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9674" y="2112263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62554" y="2290571"/>
            <a:ext cx="100584" cy="1005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63722" y="2112263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Attestation d'inscription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76612" y="2112263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59492" y="2290571"/>
            <a:ext cx="100584" cy="1005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60660" y="2112263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Carte scolaire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73549" y="2112263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56429" y="2290571"/>
            <a:ext cx="100584" cy="100584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57597" y="2112263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Export élèves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624327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7C3AED"/>
                </a:solidFill>
                <a:latin typeface="Segoe UI"/>
              </a:rPr>
              <a:t>ÉVALUATION &amp; DÉLIBÉRATION  · 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862072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3040379"/>
            <a:ext cx="100584" cy="10058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" y="2862072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Bulletin de notes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2737" y="2862072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065617" y="3040379"/>
            <a:ext cx="100584" cy="10058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6785" y="2862072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Bulletins par classe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79674" y="2862072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262554" y="3040379"/>
            <a:ext cx="100584" cy="10058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63722" y="2862072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PV de délibération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76612" y="2862072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459492" y="3040379"/>
            <a:ext cx="100584" cy="10058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60660" y="2862072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Rapport de présences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374135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1E8E3E"/>
                </a:solidFill>
                <a:latin typeface="Segoe UI"/>
              </a:rPr>
              <a:t>VIE SCOLAIRE &amp; DISCIPLINE  ·  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611879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68680" y="3790187"/>
            <a:ext cx="100584" cy="100584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9848" y="3611879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Billet d'entrée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82737" y="3611879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65617" y="3790187"/>
            <a:ext cx="100584" cy="100584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66785" y="3611879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Billet de sortie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79674" y="3611879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262554" y="3790187"/>
            <a:ext cx="100584" cy="100584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63722" y="3611879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Exeat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76612" y="3611879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59492" y="3790187"/>
            <a:ext cx="100584" cy="100584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60660" y="3611879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PV disciplinaire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73549" y="3611879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656429" y="3790187"/>
            <a:ext cx="100584" cy="100584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57597" y="3611879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Convocation de parent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4123944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E8710A"/>
                </a:solidFill>
                <a:latin typeface="Segoe UI"/>
              </a:rPr>
              <a:t>FINANCES &amp; FISCALITÉ  ·  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5800" y="4361688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68680" y="4539996"/>
            <a:ext cx="100584" cy="100584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9848" y="4361688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Avis d'échéance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882737" y="4361688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065617" y="4539996"/>
            <a:ext cx="100584" cy="100584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66785" y="4361688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Engagement financier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79674" y="4361688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262554" y="4539996"/>
            <a:ext cx="100584" cy="100584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63722" y="4361688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Journal de caisse du jour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76612" y="4361688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459492" y="4539996"/>
            <a:ext cx="100584" cy="100584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60660" y="4361688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Rapport d'arrêté de caisse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473549" y="4361688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6429" y="4539996"/>
            <a:ext cx="100584" cy="100584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597" y="4361688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Déclaration fiscale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4873752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50">
                <a:solidFill>
                  <a:srgbClr val="312E81"/>
                </a:solidFill>
                <a:latin typeface="Segoe UI"/>
              </a:rPr>
              <a:t>RESSOURCES HUMAINES  ·  4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5800" y="5111496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8680" y="5289804"/>
            <a:ext cx="100584" cy="100584"/>
          </a:xfrm>
          <a:prstGeom prst="ellipse">
            <a:avLst/>
          </a:prstGeom>
          <a:solidFill>
            <a:srgbClr val="312E8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9848" y="5111496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Bulletin de paie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882737" y="5111496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065617" y="5289804"/>
            <a:ext cx="100584" cy="100584"/>
          </a:xfrm>
          <a:prstGeom prst="ellipse">
            <a:avLst/>
          </a:prstGeom>
          <a:solidFill>
            <a:srgbClr val="312E8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266785" y="5111496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Attestation de travail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79674" y="5111496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262554" y="5289804"/>
            <a:ext cx="100584" cy="100584"/>
          </a:xfrm>
          <a:prstGeom prst="ellipse">
            <a:avLst/>
          </a:prstGeom>
          <a:solidFill>
            <a:srgbClr val="312E8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63722" y="5111496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Fiche d'heures enseignant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276612" y="5111496"/>
            <a:ext cx="2032345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459492" y="5289804"/>
            <a:ext cx="100584" cy="100584"/>
          </a:xfrm>
          <a:prstGeom prst="ellipse">
            <a:avLst/>
          </a:prstGeom>
          <a:solidFill>
            <a:srgbClr val="312E8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660660" y="5111496"/>
            <a:ext cx="150199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0F172A"/>
                </a:solidFill>
                <a:latin typeface="Segoe UI"/>
              </a:rPr>
              <a:t>Export enseignants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571500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Segoe UI"/>
              </a:rPr>
              <a:t>Chaque document reprend le logo, la dénomination et les mentions légales de votre établissement — il n'y a rien à remettre en forme après coup. Le reçu porte la mention réglementaire demandée aux familles de conserver leur justificatif de paiement.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SÉCURITÉ &amp; MULTI-LOCATAIRES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Vos données sont à vous, et à personne d'autre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La plateforme héberge plusieurs établissements. L'étanchéité entre eux n'est pas une promesse commerciale : elle est tenue par la base de données elle-même.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38528"/>
            <a:ext cx="3429914" cy="290779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Isolation stricte des établissements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09544"/>
            <a:ext cx="2881274" cy="1362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Chaque donnée porte l'identifiant de son école, sans exception.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Double barrière : filtre applicatif ET sécurité au niveau des lignes côté PostgreSQL.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Le compte technique de l'application n'est ni administrateur, ni propriétaire des tables : il ne peut pas contourner la barrière, même en cas de bogue.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890" y="1938528"/>
            <a:ext cx="3429914" cy="290779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5521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7C3AED"/>
              </a:gs>
              <a:gs pos="100000">
                <a:srgbClr val="A375F2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521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Rôles et permissions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210" y="3209544"/>
            <a:ext cx="2881274" cy="1362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Six profils : Direction, Secrétariat, Finance, Enseignant, Surveillant, Administrateur.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Chacun ne voit que son périmètre — un enseignant n'accède pas à la caisse.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L'établissement du compte est porté par le jeton de connexion, jamais par un paramètre que l'utilisateur pourrait modifier.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5980" y="1938528"/>
            <a:ext cx="3429914" cy="290779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50300" y="2212848"/>
            <a:ext cx="384048" cy="384048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1E8E3E"/>
              </a:gs>
              <a:gs pos="100000">
                <a:srgbClr val="62B078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0300" y="2761488"/>
            <a:ext cx="2881274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Traçabilité et maîtrise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0300" y="3209544"/>
            <a:ext cx="2881274" cy="1362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1E8E3E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Aucune suppression définitive de donnée métier : tout reste réversible.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1E8E3E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Journal d'audit horodaté sur les opérations sensibles.</a:t>
            </a:r>
          </a:p>
          <a:p>
            <a:pPr algn="l" marL="146304" indent="-146304">
              <a:lnSpc>
                <a:spcPct val="122000"/>
              </a:lnSpc>
              <a:spcBef>
                <a:spcPts val="550"/>
              </a:spcBef>
              <a:spcAft>
                <a:spcPts val="0"/>
              </a:spcAft>
              <a:buClr>
                <a:srgbClr val="1E8E3E"/>
              </a:buClr>
              <a:buFont typeface="Arial"/>
              <a:buChar char="▪"/>
            </a:pPr>
            <a:r>
              <a:rPr sz="1000" b="0" i="0">
                <a:solidFill>
                  <a:srgbClr val="475569"/>
                </a:solidFill>
                <a:latin typeface="Segoe UI"/>
              </a:rPr>
              <a:t>Remise à zéro des données d'essai réservée au Directeur, protégée par un mot de confirmation, et elle-même journalisée.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102352"/>
            <a:ext cx="10820095" cy="987552"/>
          </a:xfrm>
          <a:prstGeom prst="roundRect">
            <a:avLst>
              <a:gd name="adj" fmla="val 10000"/>
            </a:avLst>
          </a:prstGeom>
          <a:solidFill>
            <a:srgbClr val="EAF7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5193792"/>
            <a:ext cx="50292" cy="804672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" y="5248656"/>
            <a:ext cx="10198303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160">
                <a:solidFill>
                  <a:srgbClr val="1E8E3E"/>
                </a:solidFill>
                <a:latin typeface="Segoe UI"/>
              </a:rPr>
              <a:t>LA PREUVE, PAS LA PAROLE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Segoe UI"/>
              </a:rPr>
              <a:t>1 374 tests automatisés sont exécutés à chaque évolution du logiciel, dont une catégorie entièrement dédiée à l'étanchéité entre établissements, jouée contre une vraie base PostgreSQL. Une régression sur l'isolation des données ne peut pas atteindre la production sans être vue.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DÉMONSTRATION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Une journée type — le fil de la démonstration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Ce que nous allons vous montrer en direct, dans l'ordre où votre établissement le vivra.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982980" y="2212848"/>
            <a:ext cx="20116" cy="363473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256032" cy="256032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8116" y="2199132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1938528"/>
            <a:ext cx="868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F46E5"/>
                </a:solidFill>
                <a:latin typeface="Segoe UI"/>
              </a:rPr>
              <a:t>07h45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03704" y="1938528"/>
            <a:ext cx="15727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Direction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1938528"/>
            <a:ext cx="761969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Segoe UI"/>
              </a:rPr>
              <a:t>Le tableau de bord s'ouvre : effectifs du jour, assiduité d'hier, recettes de la semaine, échéance d'abonnement.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2866644"/>
            <a:ext cx="256032" cy="256032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" y="2926080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" y="2665476"/>
            <a:ext cx="868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4F46E5"/>
                </a:solidFill>
                <a:latin typeface="Segoe UI"/>
              </a:rPr>
              <a:t>08h30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3704" y="2665476"/>
            <a:ext cx="15727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Secrétariat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665476"/>
            <a:ext cx="761969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Segoe UI"/>
              </a:rPr>
              <a:t>Un nouvel élève est inscrit : matricule attribué, frais appliqués, reçu et attestation imprimés devant la famille.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593592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8116" y="3653028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2728" y="3392424"/>
            <a:ext cx="868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C3AED"/>
                </a:solidFill>
                <a:latin typeface="Segoe UI"/>
              </a:rPr>
              <a:t>09h15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03704" y="3392424"/>
            <a:ext cx="15727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Surveillance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3392424"/>
            <a:ext cx="761969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Segoe UI"/>
              </a:rPr>
              <a:t>L'appel est fait en classe. Un retard est enregistré, un billet d'entrée est édité, un SMS part vers le parent.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4320540"/>
            <a:ext cx="256032" cy="256032"/>
          </a:xfrm>
          <a:prstGeom prst="ellipse">
            <a:avLst/>
          </a:prstGeom>
          <a:solidFill>
            <a:srgbClr val="E8710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8116" y="4379976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2728" y="4119372"/>
            <a:ext cx="868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8710A"/>
                </a:solidFill>
                <a:latin typeface="Segoe UI"/>
              </a:rPr>
              <a:t>11h00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03704" y="4119372"/>
            <a:ext cx="15727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Caisse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4119372"/>
            <a:ext cx="761969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Segoe UI"/>
              </a:rPr>
              <a:t>Une échéance de scolarité est encaissée au guichet : reçu remis, session de caisse mise à jour à la seconde.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" y="5047488"/>
            <a:ext cx="256032" cy="25603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8116" y="5106924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52728" y="4846320"/>
            <a:ext cx="868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C3AED"/>
                </a:solidFill>
                <a:latin typeface="Segoe UI"/>
              </a:rPr>
              <a:t>15h00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03704" y="4846320"/>
            <a:ext cx="15727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Enseignant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4846320"/>
            <a:ext cx="761969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Segoe UI"/>
              </a:rPr>
              <a:t>Les notes de composition sont saisies, le barème est contrôlé à la frappe, moyennes et rangs se recalculent seuls.</a:t>
            </a:r>
          </a:p>
        </p:txBody>
      </p:sp>
      <p:sp>
        <p:nvSpPr>
          <p:cNvPr id="33" name="Oval 32"/>
          <p:cNvSpPr/>
          <p:nvPr/>
        </p:nvSpPr>
        <p:spPr>
          <a:xfrm>
            <a:off x="868680" y="5774436"/>
            <a:ext cx="256032" cy="256032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28116" y="5833872"/>
            <a:ext cx="137160" cy="137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52728" y="5573268"/>
            <a:ext cx="8686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E8E3E"/>
                </a:solidFill>
                <a:latin typeface="Segoe UI"/>
              </a:rPr>
              <a:t>17h30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03704" y="5573268"/>
            <a:ext cx="15727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F172A"/>
                </a:solidFill>
                <a:latin typeface="Segoe UI"/>
              </a:rPr>
              <a:t>Clôture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86200" y="5573268"/>
            <a:ext cx="761969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75569"/>
                </a:solidFill>
                <a:latin typeface="Segoe UI"/>
              </a:rPr>
              <a:t>La caisse est arrêtée et justifiée ; les bulletins de la 6e A sont générés en un lot, prêts à imprimer.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7C3AED"/>
              </a:gs>
            </a:gsLst>
            <a:lin ang="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30352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80">
                <a:solidFill>
                  <a:srgbClr val="4F46E5"/>
                </a:solidFill>
                <a:latin typeface="Segoe UI"/>
              </a:rPr>
              <a:t>ACCOMPAGNEMENT &amp; ABONNEMENT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F172A"/>
                </a:solidFill>
                <a:latin typeface="Segoe UI"/>
              </a:rPr>
              <a:t>Une mise en route en quelques jours, un abonnement lisible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26464"/>
            <a:ext cx="972281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75569"/>
                </a:solidFill>
                <a:latin typeface="Segoe UI"/>
              </a:rPr>
              <a:t>Trois formules, sans engagement de matériel ni licence à acheter. Le socle métier complet est inclus dès la première formule.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01952"/>
            <a:ext cx="3429914" cy="3054096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1901952"/>
            <a:ext cx="3429914" cy="475488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FFFFFF"/>
                </a:solidFill>
                <a:latin typeface="Segoe UI"/>
              </a:rPr>
              <a:t>PRIMAIRE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596896"/>
            <a:ext cx="29178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172A"/>
                </a:solidFill>
                <a:latin typeface="Segoe UI"/>
              </a:rPr>
              <a:t>15 000</a:t>
            </a:r>
            <a:r>
              <a:rPr sz="1100" b="0" i="0">
                <a:solidFill>
                  <a:srgbClr val="475569"/>
                </a:solidFill>
                <a:latin typeface="Segoe UI"/>
              </a:rPr>
              <a:t>  FCFA / mois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054096"/>
            <a:ext cx="29178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soit 150 000 FCFA par 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364992"/>
            <a:ext cx="2917850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529584"/>
            <a:ext cx="291785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Élèves, classes, matières, inscriptions et réinscriptions</a:t>
            </a:r>
          </a:p>
          <a:p>
            <a:pPr algn="l" marL="146304" indent="-146304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Notes, bulletins et délibération</a:t>
            </a:r>
          </a:p>
          <a:p>
            <a:pPr algn="l" marL="146304" indent="-146304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Caisse, reçus et suivi des impayés</a:t>
            </a:r>
          </a:p>
          <a:p>
            <a:pPr algn="l" marL="146304" indent="-146304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4F46E5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Les 23 documents officiels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0890" y="1901952"/>
            <a:ext cx="3429914" cy="3054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7C3AE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0890" y="1901952"/>
            <a:ext cx="3429914" cy="475488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7C3AED"/>
              </a:gs>
              <a:gs pos="100000">
                <a:srgbClr val="7C3AED"/>
              </a:gs>
            </a:gsLst>
            <a:lin ang="2700000" scaled="0"/>
          </a:gradFill>
          <a:ln>
            <a:noFill/>
          </a:ln>
          <a:effectLst/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FFFFFF"/>
                </a:solidFill>
                <a:latin typeface="Segoe UI"/>
              </a:rPr>
              <a:t>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922" y="2596896"/>
            <a:ext cx="29178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172A"/>
                </a:solidFill>
                <a:latin typeface="Segoe UI"/>
              </a:rPr>
              <a:t>25 000</a:t>
            </a:r>
            <a:r>
              <a:rPr sz="1100" b="0" i="0">
                <a:solidFill>
                  <a:srgbClr val="475569"/>
                </a:solidFill>
                <a:latin typeface="Segoe UI"/>
              </a:rPr>
              <a:t>  FCFA / mois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922" y="3054096"/>
            <a:ext cx="29178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soit 250 000 FCFA par 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922" y="3364992"/>
            <a:ext cx="2917850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922" y="3529584"/>
            <a:ext cx="291785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Tout le contenu de la formule Primaire</a:t>
            </a:r>
          </a:p>
          <a:p>
            <a:pPr algn="l" marL="146304" indent="-146304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Rapports financiers consolidés par cycle, classe et mode de paiement</a:t>
            </a:r>
          </a:p>
          <a:p>
            <a:pPr algn="l" marL="146304" indent="-146304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Exports comptables .xlsx</a:t>
            </a:r>
          </a:p>
          <a:p>
            <a:pPr algn="l" marL="146304" indent="-146304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7C3AED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Support prioritaire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5980" y="1901952"/>
            <a:ext cx="3429914" cy="3054096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5980" y="1901952"/>
            <a:ext cx="3429914" cy="475488"/>
          </a:xfrm>
          <a:prstGeom prst="roundRect">
            <a:avLst>
              <a:gd name="adj" fmla="val 30000"/>
            </a:avLst>
          </a:prstGeom>
          <a:solidFill>
            <a:srgbClr val="312E81"/>
          </a:solidFill>
          <a:ln>
            <a:noFill/>
          </a:ln>
          <a:effectLst/>
        </p:spPr>
        <p:txBody>
          <a:bodyPr rtlCol="0" anchor="ctr" wrap="square" lIns="182880" rIns="182880" tIns="0" b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FFFFFF"/>
                </a:solidFill>
                <a:latin typeface="Segoe UI"/>
              </a:rPr>
              <a:t>PREMIUM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2012" y="2596896"/>
            <a:ext cx="29178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F172A"/>
                </a:solidFill>
                <a:latin typeface="Segoe UI"/>
              </a:rPr>
              <a:t>40 000</a:t>
            </a:r>
            <a:r>
              <a:rPr sz="1100" b="0" i="0">
                <a:solidFill>
                  <a:srgbClr val="475569"/>
                </a:solidFill>
                <a:latin typeface="Segoe UI"/>
              </a:rPr>
              <a:t>  FCFA / mois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2012" y="3054096"/>
            <a:ext cx="29178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Segoe UI"/>
              </a:rPr>
              <a:t>soit 400 000 FCFA par 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2012" y="3364992"/>
            <a:ext cx="2917850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2012" y="3529584"/>
            <a:ext cx="291785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46304" indent="-146304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12E81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Tout le contenu de la formule Standard</a:t>
            </a:r>
          </a:p>
          <a:p>
            <a:pPr algn="l" marL="146304" indent="-146304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312E81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Notifications SMS et WhatsApp aux familles</a:t>
            </a:r>
          </a:p>
          <a:p>
            <a:pPr algn="l" marL="146304" indent="-146304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312E81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Groupe scolaire : plusieurs établissements pilotés d'un même compte</a:t>
            </a:r>
          </a:p>
          <a:p>
            <a:pPr algn="l" marL="146304" indent="-146304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rgbClr val="312E81"/>
              </a:buClr>
              <a:buFont typeface="Arial"/>
              <a:buChar char="▪"/>
            </a:pPr>
            <a:r>
              <a:rPr sz="950" b="0" i="0">
                <a:solidFill>
                  <a:srgbClr val="475569"/>
                </a:solidFill>
                <a:latin typeface="Segoe UI"/>
              </a:rPr>
              <a:t>Accompagnement dédié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102352"/>
            <a:ext cx="10820095" cy="896112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193792"/>
            <a:ext cx="50292" cy="7132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" y="5248656"/>
            <a:ext cx="10198303" cy="6035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 spc="160">
                <a:solidFill>
                  <a:srgbClr val="4F46E5"/>
                </a:solidFill>
                <a:latin typeface="Segoe UI"/>
              </a:rPr>
              <a:t>CE QUE L'ABONNEMENT COMPREND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0F172A"/>
                </a:solidFill>
                <a:latin typeface="Segoe UI"/>
              </a:rPr>
              <a:t>Reprise de vos données existantes, formation des équipes par rôle, support dédié et mises à jour incluses. Vous démarrez sur des données d'essai, puis remettez l'établissement à neuf en un clic le jour de la bascule.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071616"/>
            <a:ext cx="108200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94A3B8"/>
                </a:solidFill>
                <a:latin typeface="Segoe UI"/>
              </a:rPr>
              <a:t>Tarifs indicatifs, hors remise et hors offre de lancement — à confirmer avec votre conseiller.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6272783"/>
            <a:ext cx="10820095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6419088"/>
            <a:ext cx="75740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4A3B8"/>
                </a:solidFill>
                <a:latin typeface="Segoe UI"/>
              </a:rPr>
              <a:t>SamaEcole · Unikol  —  Système d'Information Éducatif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8615" y="641908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312E81"/>
              </a:gs>
              <a:gs pos="100000">
                <a:srgbClr val="7C3AED"/>
              </a:gs>
            </a:gsLst>
            <a:lin ang="2100000" scaled="0"/>
          </a:gra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828800"/>
            <a:ext cx="5486400" cy="5486400"/>
          </a:xfrm>
          <a:prstGeom prst="ellipse">
            <a:avLst/>
          </a:prstGeom>
          <a:solidFill>
            <a:srgbClr val="FFFFFF">
              <a:alpha val="9000"/>
            </a:srgbClr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645920" y="4206240"/>
            <a:ext cx="4023360" cy="4023360"/>
          </a:xfrm>
          <a:prstGeom prst="ellipse">
            <a:avLst/>
          </a:prstGeom>
          <a:solidFill>
            <a:srgbClr val="FFFFFF">
              <a:alpha val="7000"/>
            </a:srgbClr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260">
                <a:solidFill>
                  <a:srgbClr val="A78BFA"/>
                </a:solidFill>
                <a:latin typeface="Segoe U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Segoe UI"/>
              </a:rPr>
              <a:t>Passez au numérique dès cette année scolaire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127248"/>
            <a:ext cx="1371600" cy="457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3529584"/>
            <a:ext cx="3429914" cy="1481328"/>
          </a:xfrm>
          <a:prstGeom prst="roundRect">
            <a:avLst>
              <a:gd name="adj" fmla="val 8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txBody>
          <a:bodyPr rtlCol="0" anchor="ctr" wrap="square" lIns="237744" rIns="237744" tIns="219456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Vous gagnez du temps</a:t>
            </a:r>
          </a:p>
          <a:p>
            <a:pPr algn="l">
              <a:lnSpc>
                <a:spcPct val="122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DDD6FE"/>
                </a:solidFill>
                <a:latin typeface="Segoe UI"/>
              </a:rPr>
              <a:t>Les bulletins, les reçus et les états de caisse cessent d'être un travail de nuit.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0890" y="3529584"/>
            <a:ext cx="3429914" cy="1481328"/>
          </a:xfrm>
          <a:prstGeom prst="roundRect">
            <a:avLst>
              <a:gd name="adj" fmla="val 8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txBody>
          <a:bodyPr rtlCol="0" anchor="ctr" wrap="square" lIns="237744" rIns="237744" tIns="219456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Vous gagnez de l'argent</a:t>
            </a:r>
          </a:p>
          <a:p>
            <a:pPr algn="l">
              <a:lnSpc>
                <a:spcPct val="122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DDD6FE"/>
                </a:solidFill>
                <a:latin typeface="Segoe UI"/>
              </a:rPr>
              <a:t>Les impayés deviennent visibles, donc recouvrables. L'abonnement se rembourse.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5980" y="3529584"/>
            <a:ext cx="3429914" cy="1481328"/>
          </a:xfrm>
          <a:prstGeom prst="roundRect">
            <a:avLst>
              <a:gd name="adj" fmla="val 8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txBody>
          <a:bodyPr rtlCol="0" anchor="ctr" wrap="square" lIns="237744" rIns="237744" tIns="219456" bIns="18288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Vous gagnez en crédibilité</a:t>
            </a:r>
          </a:p>
          <a:p>
            <a:pPr algn="l">
              <a:lnSpc>
                <a:spcPct val="122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DDD6FE"/>
                </a:solidFill>
                <a:latin typeface="Segoe UI"/>
              </a:rPr>
              <a:t>Des documents nets, à l'heure, à votre en-tête — devant les familles comme devant l'inspection.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358384"/>
            <a:ext cx="4937760" cy="71323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274320" rIns="27432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12E81"/>
                </a:solidFill>
                <a:latin typeface="Segoe UI"/>
              </a:rPr>
              <a:t>Démonstration en direct — maintenant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5358384"/>
            <a:ext cx="5425135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SamaEcole · Unikol — Plateforme de gestion scolaire</a:t>
            </a:r>
          </a:p>
          <a:p>
            <a:pPr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C4B5FD"/>
                </a:solidFill>
                <a:latin typeface="Segoe UI"/>
              </a:rPr>
              <a:t>Sénégal  ·  100 % en ligne  ·  Contact commercial : à compléter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